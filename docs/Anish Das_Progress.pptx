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E33FC-DDC8-4A05-8828-D679D8AC99F8}" v="3" dt="2026-06-03T09:45:46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Das" userId="220c65e9f43b7288" providerId="LiveId" clId="{F8F34F2A-A10D-4299-9DC1-B9FA62CD2F61}"/>
    <pc:docChg chg="undo custSel modSld">
      <pc:chgData name="Anish Das" userId="220c65e9f43b7288" providerId="LiveId" clId="{F8F34F2A-A10D-4299-9DC1-B9FA62CD2F61}" dt="2026-06-03T09:46:10.906" v="16" actId="1076"/>
      <pc:docMkLst>
        <pc:docMk/>
      </pc:docMkLst>
      <pc:sldChg chg="modSp mod">
        <pc:chgData name="Anish Das" userId="220c65e9f43b7288" providerId="LiveId" clId="{F8F34F2A-A10D-4299-9DC1-B9FA62CD2F61}" dt="2026-06-03T09:46:10.906" v="16" actId="1076"/>
        <pc:sldMkLst>
          <pc:docMk/>
          <pc:sldMk cId="2615141543" sldId="256"/>
        </pc:sldMkLst>
        <pc:spChg chg="mod">
          <ac:chgData name="Anish Das" userId="220c65e9f43b7288" providerId="LiveId" clId="{F8F34F2A-A10D-4299-9DC1-B9FA62CD2F61}" dt="2026-06-03T09:45:51.242" v="12" actId="5793"/>
          <ac:spMkLst>
            <pc:docMk/>
            <pc:sldMk cId="2615141543" sldId="256"/>
            <ac:spMk id="7" creationId="{6CA0182A-1E13-BAA8-AFB6-9CD2A2DAF580}"/>
          </ac:spMkLst>
        </pc:spChg>
        <pc:graphicFrameChg chg="mod modGraphic">
          <ac:chgData name="Anish Das" userId="220c65e9f43b7288" providerId="LiveId" clId="{F8F34F2A-A10D-4299-9DC1-B9FA62CD2F61}" dt="2026-06-03T09:46:10.906" v="16" actId="1076"/>
          <ac:graphicFrameMkLst>
            <pc:docMk/>
            <pc:sldMk cId="2615141543" sldId="256"/>
            <ac:graphicFrameMk id="8" creationId="{B86A098A-373E-EF02-028E-88BC1FAEF401}"/>
          </ac:graphicFrameMkLst>
        </pc:graphicFrameChg>
        <pc:picChg chg="mod">
          <ac:chgData name="Anish Das" userId="220c65e9f43b7288" providerId="LiveId" clId="{F8F34F2A-A10D-4299-9DC1-B9FA62CD2F61}" dt="2026-06-03T09:45:10.127" v="0" actId="1076"/>
          <ac:picMkLst>
            <pc:docMk/>
            <pc:sldMk cId="2615141543" sldId="256"/>
            <ac:picMk id="10" creationId="{CFF95BB7-402C-A5CD-FEA2-860555E742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984DE-782A-4EF6-9348-FC691BD83220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15526-EF24-419E-AF28-917A001EC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56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15526-EF24-419E-AF28-917A001EC2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67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A0182A-1E13-BAA8-AFB6-9CD2A2DAF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2770"/>
            <a:ext cx="11299371" cy="60851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u="sng" dirty="0">
                <a:solidFill>
                  <a:schemeClr val="bg1"/>
                </a:solidFill>
              </a:rPr>
              <a:t>Comparative Study of Pipelined Multiplier Architectures on FPGA and Its Application in DSP Accelerators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By : Anish Das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Roll No. : 16015124005</a:t>
            </a:r>
            <a:r>
              <a:rPr lang="en-IN" sz="2000" b="1" dirty="0">
                <a:solidFill>
                  <a:schemeClr val="bg1"/>
                </a:solidFill>
              </a:rPr>
              <a:t> (VLSI)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Current Objectives :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Study high-speed pipelined multiplier architectures.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Compare FPGA implementation performance.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Analyze suitability for DSP accelerator applications.</a:t>
            </a:r>
          </a:p>
          <a:p>
            <a:pPr marL="0" indent="0">
              <a:buNone/>
            </a:pPr>
            <a:r>
              <a:rPr lang="en-US" sz="2000" b="1" dirty="0"/>
              <a:t>Progress Completed</a:t>
            </a:r>
            <a:endParaRPr lang="en-US" sz="2000" dirty="0"/>
          </a:p>
          <a:p>
            <a:r>
              <a:rPr lang="en-US" sz="2000" dirty="0"/>
              <a:t>Literature survey completed </a:t>
            </a:r>
          </a:p>
          <a:p>
            <a:r>
              <a:rPr lang="en-US" sz="2000" dirty="0"/>
              <a:t>Selection of five multiplier architectures </a:t>
            </a:r>
          </a:p>
          <a:p>
            <a:r>
              <a:rPr lang="en-US" sz="2000" dirty="0"/>
              <a:t>Evaluation methodology finalized </a:t>
            </a:r>
          </a:p>
          <a:p>
            <a:r>
              <a:rPr lang="en-US" sz="2000" dirty="0"/>
              <a:t>FPGA implementation flow identified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6A098A-373E-EF02-028E-88BC1FAEF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935232"/>
              </p:ext>
            </p:extLst>
          </p:nvPr>
        </p:nvGraphicFramePr>
        <p:xfrm>
          <a:off x="5127170" y="4051377"/>
          <a:ext cx="6607630" cy="2468880"/>
        </p:xfrm>
        <a:graphic>
          <a:graphicData uri="http://schemas.openxmlformats.org/drawingml/2006/table">
            <a:tbl>
              <a:tblPr/>
              <a:tblGrid>
                <a:gridCol w="3303815">
                  <a:extLst>
                    <a:ext uri="{9D8B030D-6E8A-4147-A177-3AD203B41FA5}">
                      <a16:colId xmlns:a16="http://schemas.microsoft.com/office/drawing/2014/main" val="694734631"/>
                    </a:ext>
                  </a:extLst>
                </a:gridCol>
                <a:gridCol w="3303815">
                  <a:extLst>
                    <a:ext uri="{9D8B030D-6E8A-4147-A177-3AD203B41FA5}">
                      <a16:colId xmlns:a16="http://schemas.microsoft.com/office/drawing/2014/main" val="1557230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Architecture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60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Pipelined Array Multiplier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Baseline architecture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79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Pipelined Booth Multiplier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Reduced partial products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8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Pipelined Wallace Tree Multiplier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High-speed reduction tree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22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Pipelined Dadda Multiplier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Area-optimized tree architecture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3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Pipelined Vedic Multiplier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Alternative high-speed architecture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11807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FF95BB7-402C-A5CD-FEA2-860555E74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7" y="2374276"/>
            <a:ext cx="5529943" cy="157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4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6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4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6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7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8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9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4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5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6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7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8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9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0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1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2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3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pic>
        <p:nvPicPr>
          <p:cNvPr id="114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15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CEC528-1DAB-0FA9-A9C9-9A2D1A29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79" y="1137621"/>
            <a:ext cx="2940913" cy="4577297"/>
          </a:xfrm>
          <a:prstGeom prst="rect">
            <a:avLst/>
          </a:prstGeom>
        </p:spPr>
      </p:pic>
      <p:sp>
        <p:nvSpPr>
          <p:cNvPr id="116" name="Content Placeholder 11">
            <a:extLst>
              <a:ext uri="{FF2B5EF4-FFF2-40B4-BE49-F238E27FC236}">
                <a16:creationId xmlns:a16="http://schemas.microsoft.com/office/drawing/2014/main" id="{10F0ADD5-0CC0-DE8A-5139-6445E01C7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574" y="3180555"/>
            <a:ext cx="6883497" cy="35417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Next Steps</a:t>
            </a:r>
          </a:p>
          <a:p>
            <a:r>
              <a:rPr lang="en-US" dirty="0">
                <a:solidFill>
                  <a:schemeClr val="bg1"/>
                </a:solidFill>
              </a:rPr>
              <a:t>Implement selected multiplier architectures in Verilog. </a:t>
            </a:r>
          </a:p>
          <a:p>
            <a:r>
              <a:rPr lang="en-US" dirty="0">
                <a:solidFill>
                  <a:schemeClr val="bg1"/>
                </a:solidFill>
              </a:rPr>
              <a:t>Develop a common verification testbench. </a:t>
            </a:r>
          </a:p>
          <a:p>
            <a:r>
              <a:rPr lang="en-US" dirty="0">
                <a:solidFill>
                  <a:schemeClr val="bg1"/>
                </a:solidFill>
              </a:rPr>
              <a:t>Perform simulation and FPGA synthesis. </a:t>
            </a:r>
          </a:p>
          <a:p>
            <a:r>
              <a:rPr lang="en-US" dirty="0">
                <a:solidFill>
                  <a:schemeClr val="bg1"/>
                </a:solidFill>
              </a:rPr>
              <a:t>Compare area, speed, power, and throughput. </a:t>
            </a:r>
          </a:p>
          <a:p>
            <a:r>
              <a:rPr lang="en-US" dirty="0">
                <a:solidFill>
                  <a:schemeClr val="bg1"/>
                </a:solidFill>
              </a:rPr>
              <a:t>Select the most suitable architecture for DSP accelerator implementation. 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Current Status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Project planning and architectural study completed. RTL implementation phase initiated.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CAC1DE-E739-333B-CC26-4245E5B7C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989752"/>
              </p:ext>
            </p:extLst>
          </p:nvPr>
        </p:nvGraphicFramePr>
        <p:xfrm>
          <a:off x="4863019" y="412116"/>
          <a:ext cx="6829716" cy="2560320"/>
        </p:xfrm>
        <a:graphic>
          <a:graphicData uri="http://schemas.openxmlformats.org/drawingml/2006/table">
            <a:tbl>
              <a:tblPr/>
              <a:tblGrid>
                <a:gridCol w="3414858">
                  <a:extLst>
                    <a:ext uri="{9D8B030D-6E8A-4147-A177-3AD203B41FA5}">
                      <a16:colId xmlns:a16="http://schemas.microsoft.com/office/drawing/2014/main" val="246220075"/>
                    </a:ext>
                  </a:extLst>
                </a:gridCol>
                <a:gridCol w="3414858">
                  <a:extLst>
                    <a:ext uri="{9D8B030D-6E8A-4147-A177-3AD203B41FA5}">
                      <a16:colId xmlns:a16="http://schemas.microsoft.com/office/drawing/2014/main" val="2164770995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b="1"/>
                        <a:t>Metric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829140"/>
                  </a:ext>
                </a:extLst>
              </a:tr>
              <a:tr h="1205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LUT Usage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Area Analysis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067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Flip-Flops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Resource Utilization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71617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Delay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Speed Analysis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8861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Maximum Frequency (Fmax)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Throughput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3613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Power Consumption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Efficiency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63938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Latency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DSP Suitability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4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954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42</TotalTime>
  <Words>176</Words>
  <Application>Microsoft Office PowerPoint</Application>
  <PresentationFormat>Widescreen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Tw Cen MT</vt:lpstr>
      <vt:lpstr>Circuit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Das</dc:creator>
  <cp:lastModifiedBy>Anish Das</cp:lastModifiedBy>
  <cp:revision>1</cp:revision>
  <dcterms:created xsi:type="dcterms:W3CDTF">2026-06-03T08:52:59Z</dcterms:created>
  <dcterms:modified xsi:type="dcterms:W3CDTF">2026-06-03T09:46:17Z</dcterms:modified>
</cp:coreProperties>
</file>