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984DE-782A-4EF6-9348-FC691BD83220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15526-EF24-419E-AF28-917A001EC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56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15526-EF24-419E-AF28-917A001EC2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67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A0182A-1E13-BAA8-AFB6-9CD2A2DAF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337743"/>
            <a:ext cx="11299371" cy="60851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u="sng" dirty="0">
                <a:solidFill>
                  <a:schemeClr val="bg1"/>
                </a:solidFill>
              </a:rPr>
              <a:t>Comparative Study of Pipelined Multiplier Architectures on FPGA and Its Application in DSP Accelerators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By : Anish Das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Roll No. : 16015124005</a:t>
            </a:r>
            <a:r>
              <a:rPr lang="en-IN" sz="2000" b="1" dirty="0">
                <a:solidFill>
                  <a:schemeClr val="bg1"/>
                </a:solidFill>
              </a:rPr>
              <a:t> (VLSI)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RTL Design Status : </a:t>
            </a:r>
            <a:r>
              <a:rPr lang="en-IN" sz="2000" dirty="0"/>
              <a:t>Moved aggressively into the Verilog HDL coding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phase. Successfully implemented </a:t>
            </a:r>
            <a:r>
              <a:rPr lang="en-IN" sz="2000" b="1" dirty="0"/>
              <a:t>7 structural multiplier architectures</a:t>
            </a:r>
            <a:r>
              <a:rPr lang="en-IN" sz="2000" dirty="0"/>
              <a:t>: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Row-Adder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Braun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Carry-Save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Column-Reduction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Greedy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Wallace Tree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Dadda Multiplier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/>
            </a:pPr>
            <a:r>
              <a:rPr lang="en-IN" sz="2000" dirty="0"/>
              <a:t>Respective Testbenches for their verification</a:t>
            </a: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F87562-DF4A-1CE6-F14D-29BFF656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621" y="3429000"/>
            <a:ext cx="7220950" cy="206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4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DD4F-AE8F-461D-9993-DCC56485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391886"/>
            <a:ext cx="5270274" cy="990600"/>
          </a:xfrm>
        </p:spPr>
        <p:txBody>
          <a:bodyPr/>
          <a:lstStyle/>
          <a:p>
            <a:pPr algn="ctr"/>
            <a:r>
              <a:rPr lang="en-IN" b="1" u="sng" dirty="0"/>
              <a:t>Immediate Roadmap &amp; Evaluation Plan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00102-894D-F9AE-59D2-131642111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514" y="1643743"/>
            <a:ext cx="5110843" cy="4191000"/>
          </a:xfrm>
        </p:spPr>
        <p:txBody>
          <a:bodyPr>
            <a:normAutofit/>
          </a:bodyPr>
          <a:lstStyle/>
          <a:p>
            <a:r>
              <a:rPr lang="en-IN" sz="2000" b="1" dirty="0"/>
              <a:t>Upcoming Architecture Implementations: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Implement </a:t>
            </a:r>
            <a:r>
              <a:rPr lang="en-IN" sz="2000" b="1" dirty="0"/>
              <a:t>Booth Multiplier</a:t>
            </a:r>
            <a:r>
              <a:rPr lang="en-IN" sz="2000" dirty="0"/>
              <a:t> (for radix-encoded partial product reduction)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Implement </a:t>
            </a:r>
            <a:r>
              <a:rPr lang="en-IN" sz="2000" b="1" dirty="0"/>
              <a:t>Vedic Multiplier</a:t>
            </a:r>
            <a:r>
              <a:rPr lang="en-IN" sz="2000" dirty="0"/>
              <a:t> (for sub-structure parallel math speedups)</a:t>
            </a:r>
            <a:endParaRPr lang="en-IN" sz="2000" b="1" dirty="0"/>
          </a:p>
          <a:p>
            <a:pPr>
              <a:lnSpc>
                <a:spcPct val="100000"/>
              </a:lnSpc>
            </a:pPr>
            <a:r>
              <a:rPr lang="en-IN" sz="2000" b="1" dirty="0"/>
              <a:t>Verification &amp; Synthesis Path:</a:t>
            </a:r>
            <a:endParaRPr lang="en-IN" sz="20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Pipeline the architectures to match the original DSP accelerator design goals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Run FPGA synthesis to extract and compare </a:t>
            </a:r>
            <a:r>
              <a:rPr lang="en-IN" sz="2000" b="1" dirty="0"/>
              <a:t>LUT usage, Fmax (delay), and Power</a:t>
            </a:r>
          </a:p>
        </p:txBody>
      </p:sp>
      <p:graphicFrame>
        <p:nvGraphicFramePr>
          <p:cNvPr id="7" name="Picture Placeholder 6">
            <a:extLst>
              <a:ext uri="{FF2B5EF4-FFF2-40B4-BE49-F238E27FC236}">
                <a16:creationId xmlns:a16="http://schemas.microsoft.com/office/drawing/2014/main" id="{876AE1E4-E9B1-68E2-7C44-B9CB29F6B27E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167296848"/>
              </p:ext>
            </p:extLst>
          </p:nvPr>
        </p:nvGraphicFramePr>
        <p:xfrm>
          <a:off x="5792787" y="280852"/>
          <a:ext cx="5996441" cy="2560320"/>
        </p:xfrm>
        <a:graphic>
          <a:graphicData uri="http://schemas.openxmlformats.org/drawingml/2006/table">
            <a:tbl>
              <a:tblPr/>
              <a:tblGrid>
                <a:gridCol w="3024067">
                  <a:extLst>
                    <a:ext uri="{9D8B030D-6E8A-4147-A177-3AD203B41FA5}">
                      <a16:colId xmlns:a16="http://schemas.microsoft.com/office/drawing/2014/main" val="246220075"/>
                    </a:ext>
                  </a:extLst>
                </a:gridCol>
                <a:gridCol w="2972374">
                  <a:extLst>
                    <a:ext uri="{9D8B030D-6E8A-4147-A177-3AD203B41FA5}">
                      <a16:colId xmlns:a16="http://schemas.microsoft.com/office/drawing/2014/main" val="2164770995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b="1"/>
                        <a:t>Metric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829140"/>
                  </a:ext>
                </a:extLst>
              </a:tr>
              <a:tr h="1205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LUT Usage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Area Analysis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067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Flip-Flops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Resource Utilization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71617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Delay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Speed Analysis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8861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Maximum Frequency (Fmax)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Throughput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3613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Power Consumption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Efficiency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63938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/>
                        <a:t>Latency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dirty="0"/>
                        <a:t>DSP Suitability</a:t>
                      </a:r>
                    </a:p>
                  </a:txBody>
                  <a:tcPr anchor="ctr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4569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EFC1FD-0691-A30D-35F7-39B37F44EE65}"/>
              </a:ext>
            </a:extLst>
          </p:cNvPr>
          <p:cNvSpPr txBox="1"/>
          <p:nvPr/>
        </p:nvSpPr>
        <p:spPr>
          <a:xfrm>
            <a:off x="5633357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C62A4-43B0-8E62-0905-D91A6A9A6D51}"/>
              </a:ext>
            </a:extLst>
          </p:cNvPr>
          <p:cNvSpPr txBox="1"/>
          <p:nvPr/>
        </p:nvSpPr>
        <p:spPr>
          <a:xfrm>
            <a:off x="5792787" y="2971800"/>
            <a:ext cx="5996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        Since the previous reporting phase, I have aggressively transitioned into structural Verilog HDL </a:t>
            </a:r>
            <a:r>
              <a:rPr lang="en-IN" dirty="0" err="1"/>
              <a:t>modeling</a:t>
            </a:r>
            <a:r>
              <a:rPr lang="en-IN" dirty="0"/>
              <a:t>, successfully completing the RTL design and functional testbench verification for 7 standalone multiplier topologies: Row-Adder, Braun, Carry-Save, Column-Reduction, Greedy, Wallace Tree, and Dadda. The ongoing focus </a:t>
            </a:r>
            <a:r>
              <a:rPr lang="en-IN" dirty="0" err="1"/>
              <a:t>centers</a:t>
            </a:r>
            <a:r>
              <a:rPr lang="en-IN" dirty="0"/>
              <a:t> on developing the Booth and Vedic multiplier architectures. The immediate next step involves inserting optimal pipeline register stages across all architectures to </a:t>
            </a:r>
            <a:r>
              <a:rPr lang="en-IN" dirty="0" err="1"/>
              <a:t>fulfill</a:t>
            </a:r>
            <a:r>
              <a:rPr lang="en-IN" dirty="0"/>
              <a:t> high-throughput DSP requirements , followed by executing FPGA hardware synthesis to fill out the performance matrix across area (LUTs/FFs), speed (Fmax/Delay), and dynamic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535646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68</TotalTime>
  <Words>261</Words>
  <Application>Microsoft Office PowerPoint</Application>
  <PresentationFormat>Widescreen</PresentationFormat>
  <Paragraphs>36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Tw Cen MT</vt:lpstr>
      <vt:lpstr>Circuit</vt:lpstr>
      <vt:lpstr>PowerPoint Presentation</vt:lpstr>
      <vt:lpstr>Immediate Roadmap &amp; Evaluation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Das</dc:creator>
  <cp:lastModifiedBy>Anish Das</cp:lastModifiedBy>
  <cp:revision>6</cp:revision>
  <dcterms:created xsi:type="dcterms:W3CDTF">2026-06-03T08:52:59Z</dcterms:created>
  <dcterms:modified xsi:type="dcterms:W3CDTF">2026-06-22T08:59:43Z</dcterms:modified>
</cp:coreProperties>
</file>